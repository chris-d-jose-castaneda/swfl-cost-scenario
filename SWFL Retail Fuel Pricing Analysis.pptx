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sldIdLst>
    <p:sldId id="256" r:id="rId2"/>
    <p:sldId id="258" r:id="rId3"/>
    <p:sldId id="257" r:id="rId4"/>
    <p:sldId id="263" r:id="rId5"/>
    <p:sldId id="259" r:id="rId6"/>
    <p:sldId id="264" r:id="rId7"/>
    <p:sldId id="260" r:id="rId8"/>
    <p:sldId id="265" r:id="rId9"/>
    <p:sldId id="261" r:id="rId10"/>
    <p:sldId id="268" r:id="rId11"/>
    <p:sldId id="26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hris\OIL%20OIL%20OIL\Data\costco_price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Estero Costco Gas Prices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Premium</c:v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costco_prices!$B$2:$B$5</c:f>
              <c:numCache>
                <c:formatCode>m/d/yyyy</c:formatCode>
                <c:ptCount val="4"/>
                <c:pt idx="0">
                  <c:v>46090</c:v>
                </c:pt>
                <c:pt idx="1">
                  <c:v>46091</c:v>
                </c:pt>
                <c:pt idx="2">
                  <c:v>46092</c:v>
                </c:pt>
                <c:pt idx="3">
                  <c:v>46093</c:v>
                </c:pt>
              </c:numCache>
            </c:numRef>
          </c:cat>
          <c:val>
            <c:numRef>
              <c:f>costco_prices!$D$2:$D$5</c:f>
              <c:numCache>
                <c:formatCode>_("$"* #,##0.00_);_("$"* \(#,##0.00\);_("$"* "-"??_);_(@_)</c:formatCode>
                <c:ptCount val="4"/>
                <c:pt idx="0">
                  <c:v>3.3</c:v>
                </c:pt>
                <c:pt idx="1">
                  <c:v>3.399</c:v>
                </c:pt>
                <c:pt idx="2">
                  <c:v>3.399</c:v>
                </c:pt>
                <c:pt idx="3">
                  <c:v>3.4590000000000001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42-405D-87B5-D87F9C91D47E}"/>
            </c:ext>
          </c:extLst>
        </c:ser>
        <c:ser>
          <c:idx val="1"/>
          <c:order val="1"/>
          <c:tx>
            <c:v>Regular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costco_prices!$B$2:$B$5</c:f>
              <c:numCache>
                <c:formatCode>m/d/yyyy</c:formatCode>
                <c:ptCount val="4"/>
                <c:pt idx="0">
                  <c:v>46090</c:v>
                </c:pt>
                <c:pt idx="1">
                  <c:v>46091</c:v>
                </c:pt>
                <c:pt idx="2">
                  <c:v>46092</c:v>
                </c:pt>
                <c:pt idx="3">
                  <c:v>46093</c:v>
                </c:pt>
              </c:numCache>
            </c:numRef>
          </c:cat>
          <c:val>
            <c:numRef>
              <c:f>costco_prices!$E$2:$E$5</c:f>
              <c:numCache>
                <c:formatCode>_("$"* #,##0.00_);_("$"* \(#,##0.00\);_("$"* "-"??_);_(@_)</c:formatCode>
                <c:ptCount val="4"/>
                <c:pt idx="0">
                  <c:v>3.8</c:v>
                </c:pt>
                <c:pt idx="1">
                  <c:v>3.899</c:v>
                </c:pt>
                <c:pt idx="2">
                  <c:v>3.899</c:v>
                </c:pt>
                <c:pt idx="3">
                  <c:v>3.9489999999999998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42-405D-87B5-D87F9C91D47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627331343"/>
        <c:axId val="627332303"/>
      </c:lineChart>
      <c:dateAx>
        <c:axId val="627331343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627332303"/>
        <c:crosses val="autoZero"/>
        <c:auto val="1"/>
        <c:lblOffset val="100"/>
        <c:baseTimeUnit val="days"/>
      </c:dateAx>
      <c:valAx>
        <c:axId val="627332303"/>
        <c:scaling>
          <c:orientation val="minMax"/>
        </c:scaling>
        <c:delete val="0"/>
        <c:axPos val="l"/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627331343"/>
        <c:crosses val="autoZero"/>
        <c:crossBetween val="between"/>
      </c:valAx>
      <c:spPr>
        <a:solidFill>
          <a:sysClr val="window" lastClr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9050" cap="flat" cmpd="sng" algn="ctr">
      <a:solidFill>
        <a:schemeClr val="dk1"/>
      </a:solidFill>
      <a:prstDash val="solid"/>
      <a:miter lim="800000"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ECBD8-34AE-4416-9791-64EC4216A373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0FC87F-D76C-4D5B-A8BA-112C8107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5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Pros: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Asymmetric Risk Clarity: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Quantifies the massive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$0.66 upside risk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versus the minor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$0.04 downside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framing immediate procurement as a low-cost, high-value "insurance policy."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Predictive Lead Time: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Integrates alternative signals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FinBERT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news sentiment and Defense proxies) to identify price hikes before they manifest at retail terminals.</a:t>
            </a:r>
          </a:p>
          <a:p>
            <a:pPr rtl="0"/>
            <a:endParaRPr lang="en-US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rtl="0"/>
            <a:r>
              <a:rPr lang="en-US" sz="1200" b="1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Cons: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Fragility: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The model's accuracy is strictly dependent on the continuous uptime and site structure of third-party web-scraping targets and APIs.</a:t>
            </a:r>
          </a:p>
          <a:p>
            <a:pPr rtl="0"/>
            <a:r>
              <a:rPr lang="en-US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Exogenous Blindness: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Mathematical models cannot anticipate unannounced "Black Swan" events, such as emergency strategic oil releases or unilateral government policy shifts.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0FC87F-D76C-4D5B-A8BA-112C8107A6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24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4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484632" y="653478"/>
            <a:ext cx="109728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82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6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5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2632" y="6419087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6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DD7C8A-91AB-CFC0-9B95-702B1CEA9311}"/>
              </a:ext>
            </a:extLst>
          </p:cNvPr>
          <p:cNvCxnSpPr>
            <a:cxnSpLocks/>
          </p:cNvCxnSpPr>
          <p:nvPr userDrawn="1"/>
        </p:nvCxnSpPr>
        <p:spPr>
          <a:xfrm>
            <a:off x="679372" y="3389244"/>
            <a:ext cx="10972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709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24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789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9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7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CD233-6A2A-2E7B-6E51-DF4324C33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298558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SWFL Retail Fuel Pricing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BE0A7-2EBD-342B-DE67-84F9E70F9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214945"/>
            <a:ext cx="3566453" cy="1741871"/>
          </a:xfrm>
        </p:spPr>
        <p:txBody>
          <a:bodyPr anchor="t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NASDAQ: COST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March 12, 2023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2" descr="Costco Png Logo - Free Transparent PNG Logos">
            <a:extLst>
              <a:ext uri="{FF2B5EF4-FFF2-40B4-BE49-F238E27FC236}">
                <a16:creationId xmlns:a16="http://schemas.microsoft.com/office/drawing/2014/main" id="{C4025F1D-1EBA-4EC2-1DAA-62540595C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37595" y="2335323"/>
            <a:ext cx="7333488" cy="228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6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99CF-2229-D740-8737-43A6AD6E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280"/>
            <a:ext cx="5020056" cy="6400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AA1128A-8BBD-DA49-AD95-0124824C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810-2B3B-834A-96C0-2E94D1C77DEA}" type="slidenum">
              <a:rPr lang="en-US" smtClean="0"/>
              <a:t>2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B91815-1CCD-D749-B576-DDA9A7BF2C46}"/>
              </a:ext>
            </a:extLst>
          </p:cNvPr>
          <p:cNvGrpSpPr/>
          <p:nvPr/>
        </p:nvGrpSpPr>
        <p:grpSpPr>
          <a:xfrm>
            <a:off x="1293889" y="1365360"/>
            <a:ext cx="9604227" cy="4629039"/>
            <a:chOff x="2059565" y="897704"/>
            <a:chExt cx="8072870" cy="416390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B1CDB70-16AC-2144-AF8F-983BCC9FB3E1}"/>
                </a:ext>
              </a:extLst>
            </p:cNvPr>
            <p:cNvGrpSpPr/>
            <p:nvPr/>
          </p:nvGrpSpPr>
          <p:grpSpPr>
            <a:xfrm>
              <a:off x="2059565" y="897704"/>
              <a:ext cx="8072870" cy="626210"/>
              <a:chOff x="240324" y="1214315"/>
              <a:chExt cx="8072870" cy="62621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1FB40C5-1B10-AA4D-A009-1864CB0C2E0D}"/>
                  </a:ext>
                </a:extLst>
              </p:cNvPr>
              <p:cNvSpPr/>
              <p:nvPr/>
            </p:nvSpPr>
            <p:spPr>
              <a:xfrm>
                <a:off x="1110274" y="1214315"/>
                <a:ext cx="7202920" cy="6262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  <a:latin typeface="Garamond" panose="02020404030301010803" pitchFamily="18" charset="0"/>
                  </a:rPr>
                  <a:t>Introduction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4057B35-BA61-6449-BE76-3D625FB7EA6E}"/>
                  </a:ext>
                </a:extLst>
              </p:cNvPr>
              <p:cNvSpPr/>
              <p:nvPr/>
            </p:nvSpPr>
            <p:spPr>
              <a:xfrm>
                <a:off x="240324" y="1214315"/>
                <a:ext cx="621792" cy="626210"/>
              </a:xfrm>
              <a:prstGeom prst="rect">
                <a:avLst/>
              </a:prstGeom>
              <a:solidFill>
                <a:srgbClr val="C00000"/>
              </a:solidFill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I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F8C6B01-3895-134E-A2B9-049262A20A76}"/>
                </a:ext>
              </a:extLst>
            </p:cNvPr>
            <p:cNvGrpSpPr/>
            <p:nvPr/>
          </p:nvGrpSpPr>
          <p:grpSpPr>
            <a:xfrm>
              <a:off x="2059565" y="1782127"/>
              <a:ext cx="8072870" cy="626210"/>
              <a:chOff x="240324" y="1214315"/>
              <a:chExt cx="8072870" cy="62621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D6DBE7-DAC0-2846-BD07-6946CF1B01B6}"/>
                  </a:ext>
                </a:extLst>
              </p:cNvPr>
              <p:cNvSpPr/>
              <p:nvPr/>
            </p:nvSpPr>
            <p:spPr>
              <a:xfrm>
                <a:off x="1110274" y="1214315"/>
                <a:ext cx="7202920" cy="6262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  <a:latin typeface="Garamond" panose="02020404030301010803" pitchFamily="18" charset="0"/>
                  </a:rPr>
                  <a:t>Methodology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E3B54F5-4A76-5F45-8022-C138B9708B3E}"/>
                  </a:ext>
                </a:extLst>
              </p:cNvPr>
              <p:cNvSpPr/>
              <p:nvPr/>
            </p:nvSpPr>
            <p:spPr>
              <a:xfrm>
                <a:off x="240324" y="1214315"/>
                <a:ext cx="621792" cy="626210"/>
              </a:xfrm>
              <a:prstGeom prst="rect">
                <a:avLst/>
              </a:prstGeom>
              <a:solidFill>
                <a:srgbClr val="C00000"/>
              </a:solidFill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II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A5B331C-F4DD-0247-BBD5-D6D8081EDDBD}"/>
                </a:ext>
              </a:extLst>
            </p:cNvPr>
            <p:cNvGrpSpPr/>
            <p:nvPr/>
          </p:nvGrpSpPr>
          <p:grpSpPr>
            <a:xfrm>
              <a:off x="2059565" y="2666550"/>
              <a:ext cx="8072870" cy="626210"/>
              <a:chOff x="240324" y="1214315"/>
              <a:chExt cx="8072870" cy="62621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EC6B187-81DA-D948-AF48-3AEE0FA70EEF}"/>
                  </a:ext>
                </a:extLst>
              </p:cNvPr>
              <p:cNvSpPr/>
              <p:nvPr/>
            </p:nvSpPr>
            <p:spPr>
              <a:xfrm>
                <a:off x="1110274" y="1214315"/>
                <a:ext cx="7202920" cy="6262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  <a:latin typeface="Garamond" panose="02020404030301010803" pitchFamily="18" charset="0"/>
                  </a:rPr>
                  <a:t>Short-Term Forecast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F0872BB-9A2C-264B-8365-7A8D97E045EA}"/>
                  </a:ext>
                </a:extLst>
              </p:cNvPr>
              <p:cNvSpPr/>
              <p:nvPr/>
            </p:nvSpPr>
            <p:spPr>
              <a:xfrm>
                <a:off x="240324" y="1214315"/>
                <a:ext cx="621792" cy="626210"/>
              </a:xfrm>
              <a:prstGeom prst="rect">
                <a:avLst/>
              </a:prstGeom>
              <a:solidFill>
                <a:srgbClr val="C00000"/>
              </a:solidFill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III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C356D1-9E0C-414C-8187-476AB957B4C5}"/>
                </a:ext>
              </a:extLst>
            </p:cNvPr>
            <p:cNvGrpSpPr/>
            <p:nvPr/>
          </p:nvGrpSpPr>
          <p:grpSpPr>
            <a:xfrm>
              <a:off x="2059565" y="3550973"/>
              <a:ext cx="8072868" cy="626210"/>
              <a:chOff x="240324" y="1214315"/>
              <a:chExt cx="8072868" cy="62621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3404712-3D2C-3F40-A49E-AA3C6BC011BA}"/>
                  </a:ext>
                </a:extLst>
              </p:cNvPr>
              <p:cNvSpPr/>
              <p:nvPr/>
            </p:nvSpPr>
            <p:spPr>
              <a:xfrm>
                <a:off x="1110273" y="1214315"/>
                <a:ext cx="7202919" cy="6262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  <a:latin typeface="Garamond" panose="02020404030301010803" pitchFamily="18" charset="0"/>
                  </a:rPr>
                  <a:t>Long-Term Stress Testing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5A4DE57-BBAE-FB48-8D4C-5E53137AF65C}"/>
                  </a:ext>
                </a:extLst>
              </p:cNvPr>
              <p:cNvSpPr/>
              <p:nvPr/>
            </p:nvSpPr>
            <p:spPr>
              <a:xfrm>
                <a:off x="240324" y="1214315"/>
                <a:ext cx="621792" cy="626210"/>
              </a:xfrm>
              <a:prstGeom prst="rect">
                <a:avLst/>
              </a:prstGeom>
              <a:solidFill>
                <a:srgbClr val="C00000"/>
              </a:solidFill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IV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A8F096A-89C6-CC48-B674-C7DFA4D13735}"/>
                </a:ext>
              </a:extLst>
            </p:cNvPr>
            <p:cNvGrpSpPr/>
            <p:nvPr/>
          </p:nvGrpSpPr>
          <p:grpSpPr>
            <a:xfrm>
              <a:off x="2059565" y="4435396"/>
              <a:ext cx="8072868" cy="626210"/>
              <a:chOff x="240324" y="1214315"/>
              <a:chExt cx="8072868" cy="62621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20F50E4-74AB-E84F-9DE3-606A282EC30F}"/>
                  </a:ext>
                </a:extLst>
              </p:cNvPr>
              <p:cNvSpPr/>
              <p:nvPr/>
            </p:nvSpPr>
            <p:spPr>
              <a:xfrm>
                <a:off x="1110274" y="1214315"/>
                <a:ext cx="7202918" cy="6262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ysClr val="windowText" lastClr="000000"/>
                    </a:solidFill>
                    <a:latin typeface="Garamond" panose="02020404030301010803" pitchFamily="18" charset="0"/>
                  </a:rPr>
                  <a:t>Risk Management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CBA1823-41F9-2C41-8FBD-F1F4F173B210}"/>
                  </a:ext>
                </a:extLst>
              </p:cNvPr>
              <p:cNvSpPr/>
              <p:nvPr/>
            </p:nvSpPr>
            <p:spPr>
              <a:xfrm>
                <a:off x="240324" y="1214315"/>
                <a:ext cx="621792" cy="626210"/>
              </a:xfrm>
              <a:prstGeom prst="rect">
                <a:avLst/>
              </a:prstGeom>
              <a:solidFill>
                <a:srgbClr val="C00000"/>
              </a:solidFill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bg1"/>
                    </a:solidFill>
                    <a:latin typeface="Garamond" panose="02020404030301010803" pitchFamily="18" charset="0"/>
                  </a:rPr>
                  <a:t>V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8685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FEF69A-BCE7-05F6-57E0-A8FD7560CD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26834" y="2565400"/>
            <a:ext cx="6629400" cy="68580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11734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5A56D-CF0F-61E7-D6A2-418DF445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E4B5-185E-989C-D23F-E14BE193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280"/>
            <a:ext cx="5020056" cy="6400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81CCEFB-540A-BE11-F18C-A804A775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810-2B3B-834A-96C0-2E94D1C77DEA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Costco Wholesale | LinkedIn">
            <a:extLst>
              <a:ext uri="{FF2B5EF4-FFF2-40B4-BE49-F238E27FC236}">
                <a16:creationId xmlns:a16="http://schemas.microsoft.com/office/drawing/2014/main" id="{0DF8C4C0-968B-78A9-C1A4-016BE5DA6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61" y="4360632"/>
            <a:ext cx="3108960" cy="15544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B89C87-A662-D795-3E63-A21ABB414A88}"/>
              </a:ext>
            </a:extLst>
          </p:cNvPr>
          <p:cNvSpPr/>
          <p:nvPr/>
        </p:nvSpPr>
        <p:spPr>
          <a:xfrm>
            <a:off x="547661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E63778-C443-FEC2-9D09-CDAEAFDBC455}"/>
              </a:ext>
            </a:extLst>
          </p:cNvPr>
          <p:cNvSpPr/>
          <p:nvPr/>
        </p:nvSpPr>
        <p:spPr>
          <a:xfrm>
            <a:off x="6095999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2164B8-4685-78C6-8BE6-12924BD62BF4}"/>
              </a:ext>
            </a:extLst>
          </p:cNvPr>
          <p:cNvSpPr/>
          <p:nvPr/>
        </p:nvSpPr>
        <p:spPr>
          <a:xfrm>
            <a:off x="521208" y="3571405"/>
            <a:ext cx="11061191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1F500-A5AD-D879-DA7B-0852BC4E9B24}"/>
              </a:ext>
            </a:extLst>
          </p:cNvPr>
          <p:cNvSpPr txBox="1"/>
          <p:nvPr/>
        </p:nvSpPr>
        <p:spPr>
          <a:xfrm>
            <a:off x="853018" y="1744779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SWFL is a "captive market" for fuel &amp; sensitive to Gulf Coast supply chain shocks.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37E2F-0B41-4D7A-BB5E-577EA68AABD2}"/>
              </a:ext>
            </a:extLst>
          </p:cNvPr>
          <p:cNvSpPr txBox="1"/>
          <p:nvPr/>
        </p:nvSpPr>
        <p:spPr>
          <a:xfrm>
            <a:off x="6246285" y="1744779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pricing models are purely reactive; they miss the "Fear Premium" of global conflict.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46070-EB12-3FF8-DF13-0664281CAF07}"/>
              </a:ext>
            </a:extLst>
          </p:cNvPr>
          <p:cNvSpPr txBox="1"/>
          <p:nvPr/>
        </p:nvSpPr>
        <p:spPr>
          <a:xfrm>
            <a:off x="3820027" y="4285570"/>
            <a:ext cx="4428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 bridge the gap between Middle Eastern escalations and the SWFL Costco pump price.</a:t>
            </a:r>
          </a:p>
        </p:txBody>
      </p:sp>
      <p:pic>
        <p:nvPicPr>
          <p:cNvPr id="1028" name="Picture 4" descr="The People's Federal Credit Union">
            <a:extLst>
              <a:ext uri="{FF2B5EF4-FFF2-40B4-BE49-F238E27FC236}">
                <a16:creationId xmlns:a16="http://schemas.microsoft.com/office/drawing/2014/main" id="{558A688C-9C15-7E10-3884-11B925217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511" y="4463915"/>
            <a:ext cx="2335974" cy="155448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1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5A1E0-C021-56CB-24C3-0E9FF8C87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B92D4-32C1-AC47-1E14-89A9B754B9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26834" y="2565400"/>
            <a:ext cx="6629400" cy="68580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20947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3943-001E-4CE5-19B7-E7D6613A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A717-5737-68C0-7470-E9B213C2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280"/>
            <a:ext cx="5020056" cy="6400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2E27173-C31C-2541-D954-0F24DA4A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810-2B3B-834A-96C0-2E94D1C77DEA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6D1F4-CE95-58C7-0311-7D72F3423912}"/>
              </a:ext>
            </a:extLst>
          </p:cNvPr>
          <p:cNvSpPr/>
          <p:nvPr/>
        </p:nvSpPr>
        <p:spPr>
          <a:xfrm>
            <a:off x="547661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9480AB-0BFD-C5C5-7725-E35344C129E5}"/>
              </a:ext>
            </a:extLst>
          </p:cNvPr>
          <p:cNvSpPr/>
          <p:nvPr/>
        </p:nvSpPr>
        <p:spPr>
          <a:xfrm>
            <a:off x="6157939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Inputs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355E91-0D83-DB9A-C44C-35F41B03D0B2}"/>
              </a:ext>
            </a:extLst>
          </p:cNvPr>
          <p:cNvSpPr/>
          <p:nvPr/>
        </p:nvSpPr>
        <p:spPr>
          <a:xfrm>
            <a:off x="521208" y="3571405"/>
            <a:ext cx="5512853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BE2D3-77A9-7223-55BB-CFB815EF698D}"/>
              </a:ext>
            </a:extLst>
          </p:cNvPr>
          <p:cNvSpPr txBox="1"/>
          <p:nvPr/>
        </p:nvSpPr>
        <p:spPr>
          <a:xfrm>
            <a:off x="853018" y="1744779"/>
            <a:ext cx="502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hybrid Machine Learning &amp; Stochastic pipeline.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3A533-E865-D535-0F90-57CCFDB07715}"/>
              </a:ext>
            </a:extLst>
          </p:cNvPr>
          <p:cNvSpPr txBox="1"/>
          <p:nvPr/>
        </p:nvSpPr>
        <p:spPr>
          <a:xfrm>
            <a:off x="1063600" y="4190671"/>
            <a:ext cx="442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models capture "shocks" that standard averages ignore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E4B5EB-C408-C273-058C-E74810C4A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939" y="1817064"/>
            <a:ext cx="5486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Oil Equities: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60-day trailing energy complex trends.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Defense Proxies: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Equity returns of Lockheed Martin &amp; RTX (Leading indicators of conflict).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FinBERT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NLP: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Contextual AI scoring of news headlines (e.g., Strait of Hormuz stalling).</a:t>
            </a:r>
          </a:p>
        </p:txBody>
      </p:sp>
      <p:pic>
        <p:nvPicPr>
          <p:cNvPr id="2052" name="Picture 4" descr="Lockheed Martin | World Economic Forum">
            <a:extLst>
              <a:ext uri="{FF2B5EF4-FFF2-40B4-BE49-F238E27FC236}">
                <a16:creationId xmlns:a16="http://schemas.microsoft.com/office/drawing/2014/main" id="{940163F9-0C81-B6E3-F75F-82286A75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97244">
            <a:off x="6345229" y="4364507"/>
            <a:ext cx="2388408" cy="133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stco - Wikipedia">
            <a:extLst>
              <a:ext uri="{FF2B5EF4-FFF2-40B4-BE49-F238E27FC236}">
                <a16:creationId xmlns:a16="http://schemas.microsoft.com/office/drawing/2014/main" id="{8E424251-79A0-74D4-2D82-915F66F66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51791">
            <a:off x="9192012" y="4180992"/>
            <a:ext cx="238125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enchmark (crude oil) - Wikipedia">
            <a:extLst>
              <a:ext uri="{FF2B5EF4-FFF2-40B4-BE49-F238E27FC236}">
                <a16:creationId xmlns:a16="http://schemas.microsoft.com/office/drawing/2014/main" id="{81CC89C4-4B0E-E6CB-CE0F-01D5BF60B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268" y="5339451"/>
            <a:ext cx="3398533" cy="128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38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A13B-B09B-795F-DFB2-03A8BD1E5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B409AE-E288-92B0-1427-DB15C5A673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26834" y="2565400"/>
            <a:ext cx="6629400" cy="68580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Results</a:t>
            </a:r>
          </a:p>
        </p:txBody>
      </p:sp>
    </p:spTree>
    <p:extLst>
      <p:ext uri="{BB962C8B-B14F-4D97-AF65-F5344CB8AC3E}">
        <p14:creationId xmlns:p14="http://schemas.microsoft.com/office/powerpoint/2010/main" val="1326529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B2DE-5202-13C4-AF91-6D00E5E3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35B1-51BB-6108-17FD-6C4393CB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81280"/>
            <a:ext cx="7107259" cy="6400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Construction &amp; Results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03D3A21-9E91-5B6A-52DF-DF832B52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810-2B3B-834A-96C0-2E94D1C77DEA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82E57A-63A5-9E70-4BC1-0CD7B24841B9}"/>
              </a:ext>
            </a:extLst>
          </p:cNvPr>
          <p:cNvSpPr/>
          <p:nvPr/>
        </p:nvSpPr>
        <p:spPr>
          <a:xfrm>
            <a:off x="547661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D45DFD-5876-C6CC-F78D-0EB002F25503}"/>
              </a:ext>
            </a:extLst>
          </p:cNvPr>
          <p:cNvSpPr/>
          <p:nvPr/>
        </p:nvSpPr>
        <p:spPr>
          <a:xfrm>
            <a:off x="6095999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FAA559-F0B4-78C9-2698-830D6C3B08D7}"/>
              </a:ext>
            </a:extLst>
          </p:cNvPr>
          <p:cNvSpPr txBox="1"/>
          <p:nvPr/>
        </p:nvSpPr>
        <p:spPr>
          <a:xfrm>
            <a:off x="3194050" y="5019770"/>
            <a:ext cx="6057899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6">
                <a:lumMod val="50000"/>
              </a:schemeClr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WTI momentum and Defense sector gains are currently the dominant price drivers.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1E899-3C37-FC71-182B-0DF057632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33" y="1649099"/>
            <a:ext cx="4885267" cy="3058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7F9DB2-8AAA-79A6-6E30-620041899D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3" t="12735" r="4438" b="4005"/>
          <a:stretch>
            <a:fillRect/>
          </a:stretch>
        </p:blipFill>
        <p:spPr>
          <a:xfrm>
            <a:off x="6223000" y="1858321"/>
            <a:ext cx="5655732" cy="2427249"/>
          </a:xfrm>
          <a:prstGeom prst="rect">
            <a:avLst/>
          </a:prstGeom>
        </p:spPr>
      </p:pic>
      <p:sp>
        <p:nvSpPr>
          <p:cNvPr id="8" name="Arrow: Up 7">
            <a:extLst>
              <a:ext uri="{FF2B5EF4-FFF2-40B4-BE49-F238E27FC236}">
                <a16:creationId xmlns:a16="http://schemas.microsoft.com/office/drawing/2014/main" id="{6C34D670-7732-9167-CD8A-95DF214AF7C2}"/>
              </a:ext>
            </a:extLst>
          </p:cNvPr>
          <p:cNvSpPr/>
          <p:nvPr/>
        </p:nvSpPr>
        <p:spPr>
          <a:xfrm>
            <a:off x="8466667" y="3369733"/>
            <a:ext cx="365760" cy="274320"/>
          </a:xfrm>
          <a:prstGeom prst="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AC945E14-EA78-F55C-B893-68052FB7DAA0}"/>
              </a:ext>
            </a:extLst>
          </p:cNvPr>
          <p:cNvSpPr/>
          <p:nvPr/>
        </p:nvSpPr>
        <p:spPr>
          <a:xfrm>
            <a:off x="8466667" y="2971568"/>
            <a:ext cx="365760" cy="274320"/>
          </a:xfrm>
          <a:prstGeom prst="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28F15716-0661-B549-9A09-8CB498740CD5}"/>
              </a:ext>
            </a:extLst>
          </p:cNvPr>
          <p:cNvSpPr/>
          <p:nvPr/>
        </p:nvSpPr>
        <p:spPr>
          <a:xfrm>
            <a:off x="10625667" y="2971568"/>
            <a:ext cx="365760" cy="274320"/>
          </a:xfrm>
          <a:prstGeom prst="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32001E90-CCB6-6C39-B0F4-2BA65425CC8F}"/>
              </a:ext>
            </a:extLst>
          </p:cNvPr>
          <p:cNvSpPr/>
          <p:nvPr/>
        </p:nvSpPr>
        <p:spPr>
          <a:xfrm>
            <a:off x="10625667" y="3369733"/>
            <a:ext cx="365760" cy="274320"/>
          </a:xfrm>
          <a:prstGeom prst="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222B1F8-428E-8330-FE59-A25179CEBF3F}"/>
              </a:ext>
            </a:extLst>
          </p:cNvPr>
          <p:cNvSpPr/>
          <p:nvPr/>
        </p:nvSpPr>
        <p:spPr>
          <a:xfrm>
            <a:off x="8500533" y="3794938"/>
            <a:ext cx="298027" cy="207187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1036DA9-19FD-B29A-6778-8B41FE0308A7}"/>
              </a:ext>
            </a:extLst>
          </p:cNvPr>
          <p:cNvSpPr/>
          <p:nvPr/>
        </p:nvSpPr>
        <p:spPr>
          <a:xfrm>
            <a:off x="10659533" y="3784600"/>
            <a:ext cx="298027" cy="207187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3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286E-2E2E-7801-1A16-2200218B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713522-61D1-AD52-376E-1D6E0D0535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26834" y="2565400"/>
            <a:ext cx="6629400" cy="68580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</p:spTree>
    <p:extLst>
      <p:ext uri="{BB962C8B-B14F-4D97-AF65-F5344CB8AC3E}">
        <p14:creationId xmlns:p14="http://schemas.microsoft.com/office/powerpoint/2010/main" val="277626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1BD-E78E-B239-4EC4-B5A2A82A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13DBD-C059-8287-D969-EB06C17B0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81280"/>
            <a:ext cx="7107259" cy="6400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F9D44BF-50FD-964B-0367-EDEC94F7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810-2B3B-834A-96C0-2E94D1C77DEA}" type="slidenum">
              <a:rPr lang="en-US" smtClean="0"/>
              <a:t>10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A9F131-ABCB-7806-56BF-0DBE102769B9}"/>
              </a:ext>
            </a:extLst>
          </p:cNvPr>
          <p:cNvSpPr/>
          <p:nvPr/>
        </p:nvSpPr>
        <p:spPr>
          <a:xfrm>
            <a:off x="547661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DADC8-0448-FFC0-F1F1-7E5D5DDD20AD}"/>
              </a:ext>
            </a:extLst>
          </p:cNvPr>
          <p:cNvSpPr/>
          <p:nvPr/>
        </p:nvSpPr>
        <p:spPr>
          <a:xfrm>
            <a:off x="6095999" y="1053387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F34E4B-12F4-122E-FCDC-950A9B308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763" y="1723443"/>
            <a:ext cx="4584195" cy="32004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D2AB7B5-D076-4846-0502-640C75D49746}"/>
              </a:ext>
            </a:extLst>
          </p:cNvPr>
          <p:cNvGrpSpPr/>
          <p:nvPr/>
        </p:nvGrpSpPr>
        <p:grpSpPr>
          <a:xfrm>
            <a:off x="4114031" y="5060716"/>
            <a:ext cx="3963936" cy="1540934"/>
            <a:chOff x="6952986" y="2150533"/>
            <a:chExt cx="3963936" cy="15409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8B6ED1-1219-448A-006B-C3955B168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787" r="3991" b="8541"/>
            <a:stretch>
              <a:fillRect/>
            </a:stretch>
          </p:blipFill>
          <p:spPr>
            <a:xfrm>
              <a:off x="6952986" y="2150533"/>
              <a:ext cx="3621881" cy="1540934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295CFB2-CAE3-DBF0-728A-6D8C4026E9AD}"/>
                </a:ext>
              </a:extLst>
            </p:cNvPr>
            <p:cNvGrpSpPr/>
            <p:nvPr/>
          </p:nvGrpSpPr>
          <p:grpSpPr>
            <a:xfrm>
              <a:off x="10551162" y="2449123"/>
              <a:ext cx="365760" cy="1018900"/>
              <a:chOff x="10551162" y="2449123"/>
              <a:chExt cx="365760" cy="1018900"/>
            </a:xfrm>
          </p:grpSpPr>
          <p:sp>
            <p:nvSpPr>
              <p:cNvPr id="18" name="Arrow: Down 17">
                <a:extLst>
                  <a:ext uri="{FF2B5EF4-FFF2-40B4-BE49-F238E27FC236}">
                    <a16:creationId xmlns:a16="http://schemas.microsoft.com/office/drawing/2014/main" id="{AC966EEE-05D0-A026-ABDE-E945C7688027}"/>
                  </a:ext>
                </a:extLst>
              </p:cNvPr>
              <p:cNvSpPr/>
              <p:nvPr/>
            </p:nvSpPr>
            <p:spPr>
              <a:xfrm>
                <a:off x="10608734" y="3260836"/>
                <a:ext cx="298027" cy="207187"/>
              </a:xfrm>
              <a:prstGeom prst="downArrow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Arrow: Up 22">
                <a:extLst>
                  <a:ext uri="{FF2B5EF4-FFF2-40B4-BE49-F238E27FC236}">
                    <a16:creationId xmlns:a16="http://schemas.microsoft.com/office/drawing/2014/main" id="{9A23D9FF-F14F-37B2-CA69-8B7FA9274A1B}"/>
                  </a:ext>
                </a:extLst>
              </p:cNvPr>
              <p:cNvSpPr/>
              <p:nvPr/>
            </p:nvSpPr>
            <p:spPr>
              <a:xfrm>
                <a:off x="10551162" y="2449123"/>
                <a:ext cx="365760" cy="274320"/>
              </a:xfrm>
              <a:prstGeom prst="upArrow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row: Up 23">
                <a:extLst>
                  <a:ext uri="{FF2B5EF4-FFF2-40B4-BE49-F238E27FC236}">
                    <a16:creationId xmlns:a16="http://schemas.microsoft.com/office/drawing/2014/main" id="{ADB41143-9D1A-0F36-B6F7-747B939BA903}"/>
                  </a:ext>
                </a:extLst>
              </p:cNvPr>
              <p:cNvSpPr/>
              <p:nvPr/>
            </p:nvSpPr>
            <p:spPr>
              <a:xfrm>
                <a:off x="10551162" y="2883964"/>
                <a:ext cx="365760" cy="274320"/>
              </a:xfrm>
              <a:prstGeom prst="upArrow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9D6E8CB-EEBA-91F1-661D-7289F2735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666" y="1613139"/>
            <a:ext cx="4475310" cy="3200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1E263AC-C29E-26DE-1E87-2073A7477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762" y="1721393"/>
            <a:ext cx="4584195" cy="32003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9B8B060-8405-6882-7DFB-1EA1DAE5D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664" y="1721393"/>
            <a:ext cx="4475309" cy="309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7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BBD7-5C3A-9D88-C9C3-CCF58CA6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BB5FE4-F425-6B3B-2C79-8A04217971C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63234" y="2565400"/>
            <a:ext cx="7865532" cy="685800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Risk Context</a:t>
            </a:r>
          </a:p>
        </p:txBody>
      </p:sp>
    </p:spTree>
    <p:extLst>
      <p:ext uri="{BB962C8B-B14F-4D97-AF65-F5344CB8AC3E}">
        <p14:creationId xmlns:p14="http://schemas.microsoft.com/office/powerpoint/2010/main" val="784525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7F4F-ED9D-8029-D085-7E0C2120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B1B7-E5D5-040A-63B4-8596A74C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280"/>
            <a:ext cx="5020056" cy="64008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Risk Context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5013EAF-257E-98FB-730D-9C34B956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D0810-2B3B-834A-96C0-2E94D1C77DEA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5EAFE6-814B-12B1-849D-8800D25B8DF0}"/>
              </a:ext>
            </a:extLst>
          </p:cNvPr>
          <p:cNvSpPr/>
          <p:nvPr/>
        </p:nvSpPr>
        <p:spPr>
          <a:xfrm>
            <a:off x="547660" y="1053387"/>
            <a:ext cx="10909771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F0FC75-9572-44D6-CBD9-0ECD2DE04AAE}"/>
              </a:ext>
            </a:extLst>
          </p:cNvPr>
          <p:cNvSpPr txBox="1"/>
          <p:nvPr/>
        </p:nvSpPr>
        <p:spPr>
          <a:xfrm>
            <a:off x="899751" y="1600644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scenarios should be tracked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D7355-CC98-006B-36F9-2CE04D6771C5}"/>
              </a:ext>
            </a:extLst>
          </p:cNvPr>
          <p:cNvSpPr txBox="1"/>
          <p:nvPr/>
        </p:nvSpPr>
        <p:spPr>
          <a:xfrm>
            <a:off x="6496606" y="160455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Refilling is the safer option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FBDE6-3370-03B5-4310-A2C9ED1B5BA6}"/>
              </a:ext>
            </a:extLst>
          </p:cNvPr>
          <p:cNvSpPr/>
          <p:nvPr/>
        </p:nvSpPr>
        <p:spPr>
          <a:xfrm>
            <a:off x="899751" y="4226092"/>
            <a:ext cx="548640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E8678-F37E-B8A9-CC19-D5ACF2811AC4}"/>
              </a:ext>
            </a:extLst>
          </p:cNvPr>
          <p:cNvSpPr txBox="1"/>
          <p:nvPr/>
        </p:nvSpPr>
        <p:spPr>
          <a:xfrm>
            <a:off x="959855" y="4710287"/>
            <a:ext cx="5029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 Risk Clarity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Lead Time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Fragility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Exogenous Blindness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18B7-2355-401F-A57F-D58761EBE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17" y="2087986"/>
            <a:ext cx="5486400" cy="2020096"/>
          </a:xfrm>
          <a:prstGeom prst="rect">
            <a:avLst/>
          </a:prstGeom>
        </p:spPr>
      </p:pic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282B185-0918-5B17-F4FE-C2831B829D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1670910"/>
              </p:ext>
            </p:extLst>
          </p:nvPr>
        </p:nvGraphicFramePr>
        <p:xfrm>
          <a:off x="7205472" y="2271503"/>
          <a:ext cx="4572000" cy="3993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8332309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Widescreen</PresentationFormat>
  <Paragraphs>71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Bierstadt</vt:lpstr>
      <vt:lpstr>Garamond</vt:lpstr>
      <vt:lpstr>Times New Roman</vt:lpstr>
      <vt:lpstr>Wingdings</vt:lpstr>
      <vt:lpstr>GestaltVTI</vt:lpstr>
      <vt:lpstr>SWFL Retail Fuel Pricing Analysis</vt:lpstr>
      <vt:lpstr>Agenda</vt:lpstr>
      <vt:lpstr>Introduction</vt:lpstr>
      <vt:lpstr>Introduction</vt:lpstr>
      <vt:lpstr>Methodology</vt:lpstr>
      <vt:lpstr>Methodology</vt:lpstr>
      <vt:lpstr>Model Results</vt:lpstr>
      <vt:lpstr>Model Construction &amp; Results</vt:lpstr>
      <vt:lpstr>Simulation Results</vt:lpstr>
      <vt:lpstr>Simulation Results</vt:lpstr>
      <vt:lpstr>Strategic Risk Context</vt:lpstr>
      <vt:lpstr>Strategic Risk Context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Jose</dc:creator>
  <cp:lastModifiedBy>Chris Jose</cp:lastModifiedBy>
  <cp:revision>1</cp:revision>
  <dcterms:created xsi:type="dcterms:W3CDTF">2026-03-13T16:16:32Z</dcterms:created>
  <dcterms:modified xsi:type="dcterms:W3CDTF">2026-03-13T18:10:08Z</dcterms:modified>
</cp:coreProperties>
</file>